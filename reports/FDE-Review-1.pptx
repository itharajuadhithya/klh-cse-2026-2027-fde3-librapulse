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1"/>
  </p:notesMasterIdLst>
  <p:handoutMasterIdLst>
    <p:handoutMasterId r:id="rId12"/>
  </p:handoutMasterIdLst>
  <p:sldIdLst>
    <p:sldId id="256" r:id="rId5"/>
    <p:sldId id="277" r:id="rId6"/>
    <p:sldId id="278" r:id="rId7"/>
    <p:sldId id="279" r:id="rId8"/>
    <p:sldId id="280" r:id="rId9"/>
    <p:sldId id="28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  <p14:sldId id="277"/>
            <p14:sldId id="278"/>
            <p14:sldId id="279"/>
            <p14:sldId id="280"/>
            <p14:sldId id="281"/>
          </p14:sldIdLst>
        </p14:section>
        <p14:section name="Design, Morph, Annotate, Work Together, Tell Me" id="{B9B51309-D148-4332-87C2-07BE32FBCA3B}">
          <p14:sldIdLst/>
        </p14:section>
        <p14:section name="Learn More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726"/>
    <a:srgbClr val="F5F5F5"/>
    <a:srgbClr val="404040"/>
    <a:srgbClr val="FF9B45"/>
    <a:srgbClr val="DD462F"/>
    <a:srgbClr val="F8CFB6"/>
    <a:srgbClr val="F8CAB6"/>
    <a:srgbClr val="923922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241" autoAdjust="0"/>
  </p:normalViewPr>
  <p:slideViewPr>
    <p:cSldViewPr snapToGrid="0">
      <p:cViewPr varScale="1">
        <p:scale>
          <a:sx n="78" d="100"/>
          <a:sy n="78" d="100"/>
        </p:scale>
        <p:origin x="878" y="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680FBE-A8DF-4758-9AC4-3A9E1039168F}" type="datetimeFigureOut">
              <a:rPr lang="en-US" smtClean="0"/>
              <a:t>8/8/2026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679768-A2FC-4D08-91F6-8DCE6C566B3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8/8/2026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8/8/2026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0" name="Rectangle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8/8/2026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456402"/>
            <a:ext cx="10515600" cy="2387600"/>
          </a:xfrm>
        </p:spPr>
        <p:txBody>
          <a:bodyPr anchor="ctr" anchorCtr="0">
            <a:normAutofit/>
          </a:bodyPr>
          <a:lstStyle/>
          <a:p>
            <a:r>
              <a:rPr lang="en-IN" sz="4800" dirty="0" err="1">
                <a:solidFill>
                  <a:schemeClr val="bg2"/>
                </a:solidFill>
              </a:rPr>
              <a:t>LibraPulse</a:t>
            </a:r>
            <a:r>
              <a:rPr lang="en-IN" sz="4800" dirty="0">
                <a:solidFill>
                  <a:schemeClr val="bg2"/>
                </a:solidFill>
              </a:rPr>
              <a:t>: Scalable Library Pipeline with </a:t>
            </a:r>
            <a:r>
              <a:rPr lang="en-IN" sz="4800" dirty="0" err="1">
                <a:solidFill>
                  <a:schemeClr val="bg2"/>
                </a:solidFill>
              </a:rPr>
              <a:t>PySpark</a:t>
            </a:r>
            <a:endParaRPr lang="en-US" sz="4800" dirty="0">
              <a:solidFill>
                <a:schemeClr val="bg2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838200" y="2500485"/>
            <a:ext cx="9582736" cy="1137793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endParaRPr lang="en-US" sz="2400" dirty="0">
              <a:solidFill>
                <a:schemeClr val="bg1"/>
              </a:solidFill>
              <a:latin typeface="+mj-lt"/>
            </a:endParaRPr>
          </a:p>
          <a:p>
            <a:pPr marL="0" indent="0">
              <a:buNone/>
            </a:pPr>
            <a:r>
              <a:rPr lang="en-US" sz="12000" dirty="0">
                <a:solidFill>
                  <a:schemeClr val="bg1"/>
                </a:solidFill>
                <a:latin typeface="+mj-lt"/>
              </a:rPr>
              <a:t>Made By:</a:t>
            </a:r>
          </a:p>
          <a:p>
            <a:pPr marL="0" indent="0">
              <a:buNone/>
            </a:pPr>
            <a:r>
              <a:rPr lang="en-US" sz="12000" dirty="0">
                <a:solidFill>
                  <a:schemeClr val="bg1"/>
                </a:solidFill>
                <a:latin typeface="+mj-lt"/>
              </a:rPr>
              <a:t>Vivek Prasad - 2420030350</a:t>
            </a:r>
          </a:p>
          <a:p>
            <a:pPr marL="0" indent="0">
              <a:buNone/>
            </a:pPr>
            <a:r>
              <a:rPr lang="en-US" sz="12000" dirty="0">
                <a:solidFill>
                  <a:schemeClr val="bg1"/>
                </a:solidFill>
                <a:latin typeface="+mj-lt"/>
              </a:rPr>
              <a:t>D Teja - 2420030737</a:t>
            </a:r>
          </a:p>
          <a:p>
            <a:pPr marL="0" indent="0">
              <a:buNone/>
            </a:pPr>
            <a:r>
              <a:rPr lang="en-US" sz="12000" dirty="0">
                <a:solidFill>
                  <a:schemeClr val="bg1"/>
                </a:solidFill>
                <a:latin typeface="+mj-lt"/>
              </a:rPr>
              <a:t>Adhithya - 2420030571</a:t>
            </a:r>
          </a:p>
          <a:p>
            <a:pPr marL="0" indent="0">
              <a:buNone/>
            </a:pPr>
            <a:endParaRPr lang="en-US" sz="12000" dirty="0">
              <a:solidFill>
                <a:schemeClr val="bg1"/>
              </a:solidFill>
              <a:latin typeface="+mj-lt"/>
            </a:endParaRPr>
          </a:p>
          <a:p>
            <a:pPr marL="0" indent="0">
              <a:buNone/>
            </a:pPr>
            <a:endParaRPr lang="en-US" sz="120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B1AE2-2E6E-E222-7318-C7B945A80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156" y="418559"/>
            <a:ext cx="6877119" cy="640080"/>
          </a:xfrm>
        </p:spPr>
        <p:txBody>
          <a:bodyPr/>
          <a:lstStyle/>
          <a:p>
            <a:r>
              <a:rPr lang="en-IN" dirty="0"/>
              <a:t>              PROJECT 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29C83A-7524-5BC2-9304-DD724C1B2FF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11652504" cy="5422392"/>
          </a:xfrm>
        </p:spPr>
        <p:txBody>
          <a:bodyPr>
            <a:normAutofit fontScale="92500"/>
          </a:bodyPr>
          <a:lstStyle/>
          <a:p>
            <a:r>
              <a:rPr lang="en-IN" sz="1800" b="1" dirty="0"/>
              <a:t>Project Overview &amp; Problem Statement</a:t>
            </a:r>
            <a:endParaRPr lang="en-IN" sz="1800" dirty="0"/>
          </a:p>
          <a:p>
            <a:pPr lvl="0"/>
            <a:r>
              <a:rPr lang="en-IN" sz="1800" b="1" dirty="0"/>
              <a:t>Project Title:</a:t>
            </a:r>
            <a:r>
              <a:rPr lang="en-IN" sz="1800" dirty="0"/>
              <a:t> </a:t>
            </a:r>
            <a:r>
              <a:rPr lang="en-IN" sz="1800" dirty="0" err="1"/>
              <a:t>LibraPulse</a:t>
            </a:r>
            <a:r>
              <a:rPr lang="en-IN" sz="1800" dirty="0"/>
              <a:t>: Scalable Library Pipeline with </a:t>
            </a:r>
            <a:r>
              <a:rPr lang="en-IN" sz="1800" dirty="0" err="1"/>
              <a:t>PySpark</a:t>
            </a:r>
            <a:endParaRPr lang="en-IN" sz="1800" dirty="0"/>
          </a:p>
          <a:p>
            <a:pPr lvl="0"/>
            <a:r>
              <a:rPr lang="en-IN" sz="1800" b="1" dirty="0">
                <a:highlight>
                  <a:srgbClr val="F5F5F5"/>
                </a:highlight>
              </a:rPr>
              <a:t>Subject:</a:t>
            </a:r>
            <a:r>
              <a:rPr lang="en-IN" sz="1800" dirty="0">
                <a:highlight>
                  <a:srgbClr val="F5F5F5"/>
                </a:highlight>
              </a:rPr>
              <a:t> </a:t>
            </a:r>
            <a:r>
              <a:rPr lang="en-IN" sz="1800" dirty="0"/>
              <a:t>Fundamentals of Data Engineering (FDE)</a:t>
            </a:r>
          </a:p>
          <a:p>
            <a:pPr lvl="0"/>
            <a:r>
              <a:rPr lang="en-IN" sz="1800" b="1" dirty="0"/>
              <a:t>Team Size:</a:t>
            </a:r>
            <a:r>
              <a:rPr lang="en-IN" sz="1800" dirty="0"/>
              <a:t> 3 Members</a:t>
            </a:r>
          </a:p>
          <a:p>
            <a:pPr lvl="0"/>
            <a:r>
              <a:rPr lang="en-IN" sz="1800" b="1" dirty="0"/>
              <a:t>Problem Statement:</a:t>
            </a:r>
            <a:r>
              <a:rPr lang="en-IN" sz="1800" dirty="0"/>
              <a:t> Modern library systems generate scattered checkout logs, member records, and digital </a:t>
            </a:r>
            <a:r>
              <a:rPr lang="en-IN" sz="1800" dirty="0" err="1"/>
              <a:t>catalog</a:t>
            </a:r>
            <a:r>
              <a:rPr lang="en-IN" sz="1800" dirty="0"/>
              <a:t> data. Traditional relational databases struggle with high-throughput processing, inconsistent record formats, and slow analytical reporting across these raw datasets.</a:t>
            </a:r>
          </a:p>
          <a:p>
            <a:pPr lvl="0"/>
            <a:r>
              <a:rPr lang="en-IN" sz="1800" b="1" dirty="0"/>
              <a:t>Proposed Solution:</a:t>
            </a:r>
            <a:r>
              <a:rPr lang="en-IN" sz="1800" dirty="0"/>
              <a:t> An end-to-end data pipeline built in </a:t>
            </a:r>
            <a:r>
              <a:rPr lang="en-IN" sz="1800" b="1" dirty="0"/>
              <a:t>VS Code</a:t>
            </a:r>
            <a:r>
              <a:rPr lang="en-IN" sz="1800" dirty="0"/>
              <a:t> using </a:t>
            </a:r>
            <a:r>
              <a:rPr lang="en-IN" sz="1800" b="1" dirty="0" err="1"/>
              <a:t>PySpark</a:t>
            </a:r>
            <a:r>
              <a:rPr lang="en-IN" sz="1800" dirty="0"/>
              <a:t> and a </a:t>
            </a:r>
            <a:r>
              <a:rPr lang="en-IN" sz="1800" b="1" dirty="0"/>
              <a:t>Medallion Data Architecture</a:t>
            </a:r>
            <a:r>
              <a:rPr lang="en-IN" sz="1800" dirty="0"/>
              <a:t> (Bronze, Silver, Gold) to automate ingestion, clean noisy records, and deliver real-time circulation analytics.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0169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BDBA00-8A3F-571D-0384-753B42265E2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81780" y="491614"/>
            <a:ext cx="11710219" cy="6366386"/>
          </a:xfrm>
        </p:spPr>
        <p:txBody>
          <a:bodyPr>
            <a:normAutofit/>
          </a:bodyPr>
          <a:lstStyle/>
          <a:p>
            <a:r>
              <a:rPr lang="en-IN" sz="2500" b="1" dirty="0"/>
              <a:t>System Architecture &amp; Data Engineering Lifecycle</a:t>
            </a:r>
            <a:endParaRPr lang="en-IN" sz="2500" dirty="0"/>
          </a:p>
          <a:p>
            <a:pPr lvl="0"/>
            <a:r>
              <a:rPr lang="en-IN" sz="1700" b="1" dirty="0"/>
              <a:t>Source Systems (Bronze Layer):</a:t>
            </a:r>
            <a:r>
              <a:rPr lang="en-IN" sz="1700" dirty="0"/>
              <a:t> Raw checkout logs (JSON) and book </a:t>
            </a:r>
            <a:r>
              <a:rPr lang="en-IN" sz="1700" dirty="0" err="1"/>
              <a:t>catalog</a:t>
            </a:r>
            <a:r>
              <a:rPr lang="en-IN" sz="1700" dirty="0"/>
              <a:t> metadata (CSV) ingested via Python data generation scripts.</a:t>
            </a:r>
          </a:p>
          <a:p>
            <a:pPr lvl="0"/>
            <a:r>
              <a:rPr lang="en-IN" sz="1700" b="1" dirty="0"/>
              <a:t>Orchestration:</a:t>
            </a:r>
            <a:r>
              <a:rPr lang="en-IN" sz="1700" dirty="0"/>
              <a:t> </a:t>
            </a:r>
            <a:r>
              <a:rPr lang="en-IN" sz="1700" b="1" dirty="0"/>
              <a:t>Apache Airflow</a:t>
            </a:r>
            <a:r>
              <a:rPr lang="en-IN" sz="1700" dirty="0"/>
              <a:t> schedules and triggers batch ingestion jobs inside containerized </a:t>
            </a:r>
            <a:r>
              <a:rPr lang="en-IN" sz="1700" b="1" dirty="0"/>
              <a:t>Docker</a:t>
            </a:r>
            <a:r>
              <a:rPr lang="en-IN" sz="1700" dirty="0"/>
              <a:t> environments.</a:t>
            </a:r>
          </a:p>
          <a:p>
            <a:pPr lvl="0"/>
            <a:r>
              <a:rPr lang="en-IN" sz="1700" b="1" dirty="0"/>
              <a:t>Transformation Core (Silver Layer):</a:t>
            </a:r>
            <a:r>
              <a:rPr lang="en-IN" sz="1700" dirty="0"/>
              <a:t> </a:t>
            </a:r>
            <a:r>
              <a:rPr lang="en-IN" sz="1700" b="1" dirty="0" err="1"/>
              <a:t>PySpark</a:t>
            </a:r>
            <a:r>
              <a:rPr lang="en-IN" sz="1700" dirty="0"/>
              <a:t> cleans missing ISBNs, removes duplicate checkout records, enforces strict schema types, and standardizes date formats.</a:t>
            </a:r>
          </a:p>
          <a:p>
            <a:pPr lvl="0"/>
            <a:r>
              <a:rPr lang="en-IN" sz="1700" b="1" dirty="0"/>
              <a:t>Aggregation &amp; Storage (Gold Layer):</a:t>
            </a:r>
            <a:r>
              <a:rPr lang="en-IN" sz="1700" dirty="0"/>
              <a:t> </a:t>
            </a:r>
            <a:r>
              <a:rPr lang="en-IN" sz="1700" dirty="0" err="1"/>
              <a:t>PySpark</a:t>
            </a:r>
            <a:r>
              <a:rPr lang="en-IN" sz="1700" dirty="0"/>
              <a:t> computes key metrics (top circulated genres, peak checkout hours, overdue fine totals) and writes analytics-ready tables to </a:t>
            </a:r>
            <a:r>
              <a:rPr lang="en-IN" sz="1700" b="1" dirty="0"/>
              <a:t>PostgreSQL</a:t>
            </a:r>
            <a:r>
              <a:rPr lang="en-IN" sz="1700" dirty="0"/>
              <a:t>.</a:t>
            </a:r>
          </a:p>
          <a:p>
            <a:pPr lvl="0"/>
            <a:r>
              <a:rPr lang="en-IN" sz="1700" b="1" dirty="0"/>
              <a:t>Serving Layer:</a:t>
            </a:r>
            <a:r>
              <a:rPr lang="en-IN" sz="1700" dirty="0"/>
              <a:t> Interactive </a:t>
            </a:r>
            <a:r>
              <a:rPr lang="en-IN" sz="1700" dirty="0" err="1"/>
              <a:t>Metabase</a:t>
            </a:r>
            <a:r>
              <a:rPr lang="en-IN" sz="1700" dirty="0"/>
              <a:t>/Power BI dashboards connected directly to PostgreSQL for visual reporting.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9943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4C6176-6679-8574-0380-ACA0B94255E1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462116" y="688258"/>
                <a:ext cx="11729884" cy="6169742"/>
              </a:xfrm>
            </p:spPr>
            <p:txBody>
              <a:bodyPr>
                <a:normAutofit/>
              </a:bodyPr>
              <a:lstStyle/>
              <a:p>
                <a:r>
                  <a:rPr lang="en-IN" sz="2500" b="1" dirty="0"/>
                  <a:t>Syllabus Alignment &amp; Team Task Division</a:t>
                </a:r>
                <a:endParaRPr lang="en-IN" sz="2500" dirty="0"/>
              </a:p>
              <a:p>
                <a:pPr lvl="0"/>
                <a:r>
                  <a:rPr lang="en-IN" sz="1800" b="1" dirty="0"/>
                  <a:t>Course Concept Coverage:</a:t>
                </a:r>
                <a:endParaRPr lang="en-IN" sz="1800" dirty="0"/>
              </a:p>
              <a:p>
                <a:pPr lvl="1"/>
                <a:r>
                  <a:rPr lang="en-IN" sz="1800" b="1" dirty="0"/>
                  <a:t>Data Engineering Lifecycle:</a:t>
                </a:r>
                <a:r>
                  <a:rPr lang="en-IN" sz="1800" dirty="0"/>
                  <a:t> Full implementation across Ingestion </a:t>
                </a:r>
                <a14:m>
                  <m:oMath xmlns:m="http://schemas.openxmlformats.org/officeDocument/2006/math">
                    <m:r>
                      <a:rPr lang="en-IN" sz="1800"/>
                      <m:t>→</m:t>
                    </m:r>
                  </m:oMath>
                </a14:m>
                <a:r>
                  <a:rPr lang="en-IN" sz="1800" dirty="0"/>
                  <a:t>Storage </a:t>
                </a:r>
                <a14:m>
                  <m:oMath xmlns:m="http://schemas.openxmlformats.org/officeDocument/2006/math">
                    <m:r>
                      <a:rPr lang="en-IN" sz="1800"/>
                      <m:t>→</m:t>
                    </m:r>
                  </m:oMath>
                </a14:m>
                <a:r>
                  <a:rPr lang="en-IN" sz="1800" dirty="0"/>
                  <a:t>Transformation </a:t>
                </a:r>
                <a14:m>
                  <m:oMath xmlns:m="http://schemas.openxmlformats.org/officeDocument/2006/math">
                    <m:r>
                      <a:rPr lang="en-IN" sz="1800"/>
                      <m:t>→</m:t>
                    </m:r>
                  </m:oMath>
                </a14:m>
                <a:r>
                  <a:rPr lang="en-IN" sz="1800" dirty="0"/>
                  <a:t>Serving.</a:t>
                </a:r>
              </a:p>
              <a:p>
                <a:pPr lvl="1"/>
                <a:r>
                  <a:rPr lang="en-IN" sz="1800" b="1" dirty="0"/>
                  <a:t>Good Data Architecture:</a:t>
                </a:r>
                <a:r>
                  <a:rPr lang="en-IN" sz="1800" dirty="0"/>
                  <a:t> Modularity, containerization with Docker, and decoupling storage from compute using </a:t>
                </a:r>
                <a:r>
                  <a:rPr lang="en-IN" sz="1800" dirty="0" err="1"/>
                  <a:t>PySpark</a:t>
                </a:r>
                <a:r>
                  <a:rPr lang="en-IN" sz="1800" dirty="0"/>
                  <a:t>.</a:t>
                </a:r>
              </a:p>
              <a:p>
                <a:pPr lvl="1"/>
                <a:r>
                  <a:rPr lang="en-IN" sz="1800" b="1" dirty="0"/>
                  <a:t>Evolution of Data Engineering:</a:t>
                </a:r>
                <a:r>
                  <a:rPr lang="en-IN" sz="1800" dirty="0"/>
                  <a:t> Transitioning from legacy SQL/ETL scripts to modern distributed computing with </a:t>
                </a:r>
                <a:r>
                  <a:rPr lang="en-IN" sz="1800" dirty="0" err="1"/>
                  <a:t>PySpark</a:t>
                </a:r>
                <a:r>
                  <a:rPr lang="en-IN" dirty="0"/>
                  <a:t>.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4C6176-6679-8574-0380-ACA0B94255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462116" y="688258"/>
                <a:ext cx="11729884" cy="6169742"/>
              </a:xfrm>
              <a:blipFill>
                <a:blip r:embed="rId2"/>
                <a:stretch>
                  <a:fillRect l="-88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93668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5C2CD1-5156-B1A0-097F-1CE12B57582B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462116" y="639097"/>
                <a:ext cx="11729884" cy="6218903"/>
              </a:xfrm>
            </p:spPr>
            <p:txBody>
              <a:bodyPr/>
              <a:lstStyle/>
              <a:p>
                <a:r>
                  <a:rPr lang="en-IN" sz="2500" b="1" dirty="0"/>
                  <a:t>Team Responsibilities:</a:t>
                </a:r>
                <a:endParaRPr lang="en-IN" sz="2500" dirty="0"/>
              </a:p>
              <a:p>
                <a:pPr lvl="0"/>
                <a:r>
                  <a:rPr lang="en-IN" sz="1800" b="1" dirty="0"/>
                  <a:t>Member 1 (Ingestion):</a:t>
                </a:r>
                <a:r>
                  <a:rPr lang="en-IN" sz="1800" dirty="0"/>
                  <a:t> Data generation scripts + Apache Airflow DAGs.</a:t>
                </a:r>
              </a:p>
              <a:p>
                <a:pPr lvl="0"/>
                <a:r>
                  <a:rPr lang="en-IN" sz="1800" b="1" dirty="0"/>
                  <a:t>Member 2 (Processing):</a:t>
                </a:r>
                <a:r>
                  <a:rPr lang="en-IN" sz="1800" dirty="0"/>
                  <a:t> </a:t>
                </a:r>
                <a:r>
                  <a:rPr lang="en-IN" sz="1800" dirty="0" err="1"/>
                  <a:t>PySpark</a:t>
                </a:r>
                <a:r>
                  <a:rPr lang="en-IN" sz="1800" dirty="0"/>
                  <a:t> Bronze </a:t>
                </a:r>
                <a14:m>
                  <m:oMath xmlns:m="http://schemas.openxmlformats.org/officeDocument/2006/math">
                    <m:r>
                      <a:rPr lang="en-IN" sz="1800"/>
                      <m:t>→</m:t>
                    </m:r>
                  </m:oMath>
                </a14:m>
                <a:r>
                  <a:rPr lang="en-IN" sz="1800" dirty="0"/>
                  <a:t>Silver </a:t>
                </a:r>
                <a14:m>
                  <m:oMath xmlns:m="http://schemas.openxmlformats.org/officeDocument/2006/math">
                    <m:r>
                      <a:rPr lang="en-IN" sz="1800"/>
                      <m:t>→</m:t>
                    </m:r>
                  </m:oMath>
                </a14:m>
                <a:r>
                  <a:rPr lang="en-IN" sz="1800" dirty="0"/>
                  <a:t>Gold transformation logic.</a:t>
                </a:r>
              </a:p>
              <a:p>
                <a:pPr lvl="0"/>
                <a:r>
                  <a:rPr lang="en-IN" sz="1800" b="1" dirty="0"/>
                  <a:t>Member 3 (Storage &amp; BI):</a:t>
                </a:r>
                <a:r>
                  <a:rPr lang="en-IN" sz="1800" dirty="0"/>
                  <a:t> PostgreSQL schema setup, dashboard visualization, and documentation</a:t>
                </a:r>
                <a:r>
                  <a:rPr lang="en-IN" dirty="0"/>
                  <a:t>.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5C2CD1-5156-B1A0-097F-1CE12B5758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462116" y="639097"/>
                <a:ext cx="11729884" cy="6218903"/>
              </a:xfrm>
              <a:blipFill>
                <a:blip r:embed="rId2"/>
                <a:stretch>
                  <a:fillRect l="-88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4788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87E03-CAB3-0ACF-8596-011B17B79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5187" y="2326017"/>
            <a:ext cx="2880852" cy="997286"/>
          </a:xfrm>
        </p:spPr>
        <p:txBody>
          <a:bodyPr>
            <a:noAutofit/>
          </a:bodyPr>
          <a:lstStyle/>
          <a:p>
            <a:r>
              <a:rPr lang="en-IN" sz="4000" dirty="0">
                <a:solidFill>
                  <a:schemeClr val="bg1"/>
                </a:solidFill>
                <a:highlight>
                  <a:srgbClr val="D24726"/>
                </a:highligh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19601830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10001108_Win32 v2" id="{08D89365-2E4C-432D-9349-8DF9B80AEEA1}" vid="{010FF314-90DF-4A21-BD0D-ADCBA34234A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A3EE4EA-81C0-48D0-BEBD-A2EFD6B38B4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5563EE24-83AF-4B4D-B45B-11D1ECD4364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2FC9C26-AD58-4393-99DE-F67958CF6A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{ACBA07D1-9C83-49FB-B815-8205DDAE7E71}TF2989475c-5427-4edb-9ec1-00f4ce72165b77c8433f_win32-c33c42577f73</Template>
  <TotalTime>17</TotalTime>
  <Words>365</Words>
  <Application>Microsoft Office PowerPoint</Application>
  <PresentationFormat>Widescreen</PresentationFormat>
  <Paragraphs>30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Segoe UI</vt:lpstr>
      <vt:lpstr>Segoe UI Light</vt:lpstr>
      <vt:lpstr>Custom</vt:lpstr>
      <vt:lpstr>LibraPulse: Scalable Library Pipeline with PySpark</vt:lpstr>
      <vt:lpstr>              PROJECT ABSTRACT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 Adhithya</dc:creator>
  <cp:keywords/>
  <cp:lastModifiedBy>I Adhithya</cp:lastModifiedBy>
  <cp:revision>1</cp:revision>
  <dcterms:created xsi:type="dcterms:W3CDTF">2026-08-08T00:02:03Z</dcterms:created>
  <dcterms:modified xsi:type="dcterms:W3CDTF">2026-08-08T00:19:27Z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