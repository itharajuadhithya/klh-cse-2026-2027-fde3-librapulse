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5" r:id="rId16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  <Relationship Id="rId16" Type="http://schemas.openxmlformats.org/officeDocument/2006/relationships/slide" Target="slides/slide10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22952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feature_comparison_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k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137160"/>
            <a:ext cx="1463040" cy="48463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31520" y="744532"/>
            <a:ext cx="7680960" cy="914400"/>
          </a:xfrm>
          <a:prstGeom prst="roundRect">
            <a:avLst>
              <a:gd name="adj" fmla="val 15000"/>
            </a:avLst>
          </a:prstGeom>
          <a:solidFill>
            <a:srgbClr val="1E88E5"/>
          </a:solidFill>
          <a:ln/>
        </p:spPr>
      </p:sp>
      <p:sp>
        <p:nvSpPr>
          <p:cNvPr id="4" name="Text 1"/>
          <p:cNvSpPr/>
          <p:nvPr/>
        </p:nvSpPr>
        <p:spPr>
          <a:xfrm>
            <a:off x="731520" y="7586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LibraPulse : Scalable Library Pipeline with PySpark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457200" y="16870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FDE Project Review-4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63305" y="361188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the Guidance of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N Shirisha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Computer Science and Engineering,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KLH CSE Bowrampet Campus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995160" y="361188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Members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Vivek - 2420030350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Teja – 2420030737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Adhithya - 2420030571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503920" y="48006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8888"/>
                </a:solidFill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k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109728"/>
            <a:ext cx="1463040" cy="4846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0040" y="109728"/>
            <a:ext cx="6949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with Existing Projects (2021–2026)</a:t>
            </a:r>
            <a:endParaRPr lang="en-US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502920"/>
          <a:ext cx="8686800" cy="4114803"/>
        </p:xfrm>
        <a:graphic>
          <a:graphicData uri="http://schemas.openxmlformats.org/drawingml/2006/table">
            <a:tbl>
              <a:tblPr/>
              <a:tblGrid>
                <a:gridCol w="1508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20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782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Existing ETL / Analytics Systems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LibraPulse (Ours)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82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Processing Engine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General Spark/Glue or relational + graph DB (Sharath 2026, Gupta 2025)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Apache PySpark focused on library DataFrames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782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Domain Focus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Company DW (Fana 2021) or student performance analytics (Gupta 2025)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Purpose-built for library data (books, members, borrowings)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82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Modularity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Often monolithic or tightly coupled to cloud / dual DB (Sharath 2026, Gupta 2025)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Independent modules: extract, clean, transform, load, analytics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782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Analytics Scope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General BI / at-risk student monitoring / company reporting (Gupta 2025, Fana 2021)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Popular books, active members, category stats + time trends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782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Infrastructure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Requires AWS Glue + Redshift or Neo4j + MySQL (Sharath 2026, Gupta 2025)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Lightweight: runs locally or on cluster with CSV/Parquet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782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Portability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Tied to specific cloud stack or dual-database paradigm (Sharath 2026, Gupta 2025)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Reusable pipeline; no mandatory cloud or special DB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8503920" y="48006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8888"/>
                </a:solidFill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k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109728"/>
            <a:ext cx="1463040" cy="4846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0040" y="13716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 LibraPulse Different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274320" y="640080"/>
            <a:ext cx="4160520" cy="1188720"/>
          </a:xfrm>
          <a:prstGeom prst="roundRect">
            <a:avLst>
              <a:gd name="adj" fmla="val 6154"/>
            </a:avLst>
          </a:prstGeom>
          <a:solidFill>
            <a:srgbClr val="E3F2FD"/>
          </a:solidFill>
          <a:ln/>
        </p:spPr>
      </p:sp>
      <p:sp>
        <p:nvSpPr>
          <p:cNvPr id="5" name="Text 2"/>
          <p:cNvSpPr/>
          <p:nvPr/>
        </p:nvSpPr>
        <p:spPr>
          <a:xfrm>
            <a:off x="411480" y="73152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Library-Domain PySpark Pipeline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11480" y="1024128"/>
            <a:ext cx="3886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Recent works target company DW (Fana 2021) or student analytics (Gupta 2025). LibraPulse is purpose-built for books, members &amp; borrowing records with Spark DataFrames.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663440" y="640080"/>
            <a:ext cx="4160520" cy="1188720"/>
          </a:xfrm>
          <a:prstGeom prst="roundRect">
            <a:avLst>
              <a:gd name="adj" fmla="val 6154"/>
            </a:avLst>
          </a:prstGeom>
          <a:solidFill>
            <a:srgbClr val="F3E5F5"/>
          </a:solidFill>
          <a:ln/>
        </p:spPr>
      </p:sp>
      <p:sp>
        <p:nvSpPr>
          <p:cNvPr id="8" name="Text 5"/>
          <p:cNvSpPr/>
          <p:nvPr/>
        </p:nvSpPr>
        <p:spPr>
          <a:xfrm>
            <a:off x="4800600" y="73152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Modular Stage Design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800600" y="1024128"/>
            <a:ext cx="3886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stage (extract, clean_transform, load, analytics, visualize) is an independent reusable Python module under /src — easy to maintain and extend.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74320" y="1965960"/>
            <a:ext cx="4160520" cy="1188720"/>
          </a:xfrm>
          <a:prstGeom prst="roundRect">
            <a:avLst>
              <a:gd name="adj" fmla="val 6154"/>
            </a:avLst>
          </a:prstGeom>
          <a:solidFill>
            <a:srgbClr val="E3F2FD"/>
          </a:solidFill>
          <a:ln/>
        </p:spPr>
      </p:sp>
      <p:sp>
        <p:nvSpPr>
          <p:cNvPr id="11" name="Text 8"/>
          <p:cNvSpPr/>
          <p:nvPr/>
        </p:nvSpPr>
        <p:spPr>
          <a:xfrm>
            <a:off x="411480" y="205740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Library Insights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11480" y="2350008"/>
            <a:ext cx="3886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pipeline run delivers popular books, active vs inactive members, category-wise demand, and monthly borrowing trends — not just generic BI reports.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663440" y="1965960"/>
            <a:ext cx="4160520" cy="1188720"/>
          </a:xfrm>
          <a:prstGeom prst="roundRect">
            <a:avLst>
              <a:gd name="adj" fmla="val 6154"/>
            </a:avLst>
          </a:prstGeom>
          <a:solidFill>
            <a:srgbClr val="F3E5F5"/>
          </a:solidFill>
          <a:ln/>
        </p:spPr>
      </p:sp>
      <p:sp>
        <p:nvSpPr>
          <p:cNvPr id="14" name="Text 11"/>
          <p:cNvSpPr/>
          <p:nvPr/>
        </p:nvSpPr>
        <p:spPr>
          <a:xfrm>
            <a:off x="4800600" y="205740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Lightweight &amp; Portable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800600" y="2350008"/>
            <a:ext cx="3886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Unlike Glue+Redshift or Neo4j+MySQL stacks (Sharath 2026, Gupta 2025), it runs locally or on a cluster with simple CSV/Parquet I/O.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274320" y="3291840"/>
            <a:ext cx="4160520" cy="1188720"/>
          </a:xfrm>
          <a:prstGeom prst="roundRect">
            <a:avLst>
              <a:gd name="adj" fmla="val 6154"/>
            </a:avLst>
          </a:prstGeom>
          <a:solidFill>
            <a:srgbClr val="E3F2FD"/>
          </a:solidFill>
          <a:ln/>
        </p:spPr>
      </p:sp>
      <p:sp>
        <p:nvSpPr>
          <p:cNvPr id="17" name="Text 14"/>
          <p:cNvSpPr/>
          <p:nvPr/>
        </p:nvSpPr>
        <p:spPr>
          <a:xfrm>
            <a:off x="411480" y="338328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Scalability Without Redesign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11480" y="3675888"/>
            <a:ext cx="3886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code path handles sample data today and can scale to large volumes via Spark's distributed engine without rewriting the pipeline.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663440" y="3291840"/>
            <a:ext cx="4160520" cy="1188720"/>
          </a:xfrm>
          <a:prstGeom prst="roundRect">
            <a:avLst>
              <a:gd name="adj" fmla="val 6154"/>
            </a:avLst>
          </a:prstGeom>
          <a:solidFill>
            <a:srgbClr val="F3E5F5"/>
          </a:solidFill>
          <a:ln/>
        </p:spPr>
      </p:sp>
      <p:sp>
        <p:nvSpPr>
          <p:cNvPr id="20" name="Text 17"/>
          <p:cNvSpPr/>
          <p:nvPr/>
        </p:nvSpPr>
        <p:spPr>
          <a:xfrm>
            <a:off x="4800600" y="338328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Decision-Ready Outputs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800600" y="3675888"/>
            <a:ext cx="3886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Produces cleaned datasets plus ready charts so library administrators can act on inventory, engagement, and demand immediately.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503920" y="477949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8888"/>
                </a:solidFill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k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109728"/>
            <a:ext cx="1463040" cy="4846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18288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– Pipeline Output Summary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365760" y="777240"/>
            <a:ext cx="2011680" cy="1325880"/>
          </a:xfrm>
          <a:prstGeom prst="roundRect">
            <a:avLst>
              <a:gd name="adj" fmla="val 6897"/>
            </a:avLst>
          </a:prstGeom>
          <a:solidFill>
            <a:srgbClr val="E3F2FD"/>
          </a:solidFill>
          <a:ln/>
        </p:spPr>
      </p:sp>
      <p:sp>
        <p:nvSpPr>
          <p:cNvPr id="5" name="Text 2"/>
          <p:cNvSpPr/>
          <p:nvPr/>
        </p:nvSpPr>
        <p:spPr>
          <a:xfrm>
            <a:off x="365760" y="8686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365760" y="1371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65760" y="16459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 extracted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514600" y="777240"/>
            <a:ext cx="2011680" cy="1325880"/>
          </a:xfrm>
          <a:prstGeom prst="roundRect">
            <a:avLst>
              <a:gd name="adj" fmla="val 6897"/>
            </a:avLst>
          </a:prstGeom>
          <a:solidFill>
            <a:srgbClr val="E3F2FD"/>
          </a:solidFill>
          <a:ln/>
        </p:spPr>
      </p:sp>
      <p:sp>
        <p:nvSpPr>
          <p:cNvPr id="9" name="Text 6"/>
          <p:cNvSpPr/>
          <p:nvPr/>
        </p:nvSpPr>
        <p:spPr>
          <a:xfrm>
            <a:off x="2514600" y="8686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2514600" y="1371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2514600" y="16459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 extracted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663440" y="777240"/>
            <a:ext cx="2011680" cy="1325880"/>
          </a:xfrm>
          <a:prstGeom prst="roundRect">
            <a:avLst>
              <a:gd name="adj" fmla="val 6897"/>
            </a:avLst>
          </a:prstGeom>
          <a:solidFill>
            <a:srgbClr val="E3F2FD"/>
          </a:solidFill>
          <a:ln/>
        </p:spPr>
      </p:sp>
      <p:sp>
        <p:nvSpPr>
          <p:cNvPr id="13" name="Text 10"/>
          <p:cNvSpPr/>
          <p:nvPr/>
        </p:nvSpPr>
        <p:spPr>
          <a:xfrm>
            <a:off x="4663440" y="8686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4663440" y="1371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Borrowings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663440" y="16459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 extracted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812280" y="777240"/>
            <a:ext cx="2011680" cy="1325880"/>
          </a:xfrm>
          <a:prstGeom prst="roundRect">
            <a:avLst>
              <a:gd name="adj" fmla="val 6897"/>
            </a:avLst>
          </a:prstGeom>
          <a:solidFill>
            <a:srgbClr val="E3F2FD"/>
          </a:solidFill>
          <a:ln/>
        </p:spPr>
      </p:sp>
      <p:sp>
        <p:nvSpPr>
          <p:cNvPr id="17" name="Text 14"/>
          <p:cNvSpPr/>
          <p:nvPr/>
        </p:nvSpPr>
        <p:spPr>
          <a:xfrm>
            <a:off x="6812280" y="8686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3000" dirty="0"/>
          </a:p>
        </p:txBody>
      </p:sp>
      <p:sp>
        <p:nvSpPr>
          <p:cNvPr id="18" name="Text 15"/>
          <p:cNvSpPr/>
          <p:nvPr/>
        </p:nvSpPr>
        <p:spPr>
          <a:xfrm>
            <a:off x="6812280" y="1371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Members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812280" y="16459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 of 12 (67%)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365760" y="2331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 from Analytics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365760" y="283464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1E88E5"/>
          </a:solidFill>
          <a:ln/>
        </p:spPr>
      </p:sp>
      <p:sp>
        <p:nvSpPr>
          <p:cNvPr id="22" name="Text 19"/>
          <p:cNvSpPr/>
          <p:nvPr/>
        </p:nvSpPr>
        <p:spPr>
          <a:xfrm>
            <a:off x="640080" y="27889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Popular Books: </a:t>
            </a: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Hobbit &amp; Atomic Habits (4 borrows each)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365760" y="327355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1E88E5"/>
          </a:solidFill>
          <a:ln/>
        </p:spPr>
      </p:sp>
      <p:sp>
        <p:nvSpPr>
          <p:cNvPr id="24" name="Text 21"/>
          <p:cNvSpPr/>
          <p:nvPr/>
        </p:nvSpPr>
        <p:spPr>
          <a:xfrm>
            <a:off x="640080" y="3227832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Category: </a:t>
            </a: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Fiction (9 borrows) — followed by Technology &amp; Self-help (4 each)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365760" y="371246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1E88E5"/>
          </a:solidFill>
          <a:ln/>
        </p:spPr>
      </p:sp>
      <p:sp>
        <p:nvSpPr>
          <p:cNvPr id="26" name="Text 23"/>
          <p:cNvSpPr/>
          <p:nvPr/>
        </p:nvSpPr>
        <p:spPr>
          <a:xfrm>
            <a:off x="640080" y="3666744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Activity: </a:t>
            </a: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Active vs 4 Inactive members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365760" y="4151376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1E88E5"/>
          </a:solidFill>
          <a:ln/>
        </p:spPr>
      </p:sp>
      <p:sp>
        <p:nvSpPr>
          <p:cNvPr id="28" name="Text 25"/>
          <p:cNvSpPr/>
          <p:nvPr/>
        </p:nvSpPr>
        <p:spPr>
          <a:xfrm>
            <a:off x="640080" y="4105656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Borrowing Trend: </a:t>
            </a: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in March 2024 (6 borrows); steady growth from Jan–Mar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8503920" y="48006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8888"/>
                </a:solidFill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k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109728"/>
            <a:ext cx="1463040" cy="4846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13716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– Most Popular Books &amp; Member Status</a:t>
            </a:r>
            <a:endParaRPr lang="en-US" sz="1800" dirty="0"/>
          </a:p>
        </p:txBody>
      </p:sp>
      <p:pic>
        <p:nvPicPr>
          <p:cNvPr id="4" name="Image 1" descr="/home/workdir/artifacts/charts/popular_book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594360"/>
            <a:ext cx="4846320" cy="2697480"/>
          </a:xfrm>
          <a:prstGeom prst="rect">
            <a:avLst/>
          </a:prstGeom>
        </p:spPr>
      </p:pic>
      <p:pic>
        <p:nvPicPr>
          <p:cNvPr id="5" name="Image 2" descr="/home/workdir/artifacts/charts/member_statu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66360" y="594360"/>
            <a:ext cx="3657600" cy="2697480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274320" y="3520440"/>
            <a:ext cx="4114800" cy="1097280"/>
          </a:xfrm>
          <a:prstGeom prst="roundRect">
            <a:avLst>
              <a:gd name="adj" fmla="val 6667"/>
            </a:avLst>
          </a:prstGeom>
          <a:solidFill>
            <a:srgbClr val="E8F5E9"/>
          </a:solidFill>
          <a:ln/>
        </p:spPr>
      </p:sp>
      <p:sp>
        <p:nvSpPr>
          <p:cNvPr id="7" name="Text 2"/>
          <p:cNvSpPr/>
          <p:nvPr/>
        </p:nvSpPr>
        <p:spPr>
          <a:xfrm>
            <a:off x="411480" y="3611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Insight: </a:t>
            </a:r>
            <a:r>
              <a:rPr lang="en-US" sz="120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Hobbit and Atomic Habits lead with 4 borrows each. Technical books (Clean Code, 1984) also show strong demand.</a:t>
            </a:r>
            <a:endParaRPr lang="en-US" sz="1200" dirty="0"/>
          </a:p>
        </p:txBody>
      </p:sp>
      <p:sp>
        <p:nvSpPr>
          <p:cNvPr id="8" name="Shape 3"/>
          <p:cNvSpPr/>
          <p:nvPr/>
        </p:nvSpPr>
        <p:spPr>
          <a:xfrm>
            <a:off x="4572000" y="3520440"/>
            <a:ext cx="4206240" cy="1097280"/>
          </a:xfrm>
          <a:prstGeom prst="roundRect">
            <a:avLst>
              <a:gd name="adj" fmla="val 6667"/>
            </a:avLst>
          </a:prstGeom>
          <a:solidFill>
            <a:srgbClr val="FFF3E0"/>
          </a:solidFill>
          <a:ln/>
        </p:spPr>
      </p:sp>
      <p:sp>
        <p:nvSpPr>
          <p:cNvPr id="9" name="Text 4"/>
          <p:cNvSpPr/>
          <p:nvPr/>
        </p:nvSpPr>
        <p:spPr>
          <a:xfrm>
            <a:off x="4709160" y="361188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Insight: </a:t>
            </a:r>
            <a:r>
              <a:rPr lang="en-US" sz="1200" dirty="0">
                <a:solidFill>
                  <a:srgbClr val="BF36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 of members are active. Focus engagement campaigns on the 4 inactive members to improve utilization.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8503920" y="48006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8888"/>
                </a:solidFill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k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109728"/>
            <a:ext cx="1463040" cy="4846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13716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– Category Stats &amp; Borrowing Trends</a:t>
            </a:r>
            <a:endParaRPr lang="en-US" sz="1800" dirty="0"/>
          </a:p>
        </p:txBody>
      </p:sp>
      <p:pic>
        <p:nvPicPr>
          <p:cNvPr id="4" name="Image 1" descr="/home/workdir/artifacts/charts/category_sta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594360"/>
            <a:ext cx="4297680" cy="2606040"/>
          </a:xfrm>
          <a:prstGeom prst="rect">
            <a:avLst/>
          </a:prstGeom>
        </p:spPr>
      </p:pic>
      <p:pic>
        <p:nvPicPr>
          <p:cNvPr id="5" name="Image 2" descr="/home/workdir/artifacts/charts/borrowing_trend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594360"/>
            <a:ext cx="4206240" cy="2606040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274320" y="3429000"/>
            <a:ext cx="4114800" cy="1143000"/>
          </a:xfrm>
          <a:prstGeom prst="roundRect">
            <a:avLst>
              <a:gd name="adj" fmla="val 6400"/>
            </a:avLst>
          </a:prstGeom>
          <a:solidFill>
            <a:srgbClr val="EDE7F6"/>
          </a:solidFill>
          <a:ln/>
        </p:spPr>
      </p:sp>
      <p:sp>
        <p:nvSpPr>
          <p:cNvPr id="7" name="Text 2"/>
          <p:cNvSpPr/>
          <p:nvPr/>
        </p:nvSpPr>
        <p:spPr>
          <a:xfrm>
            <a:off x="411480" y="3520440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Insight: </a:t>
            </a:r>
            <a:r>
              <a:rPr lang="en-US" sz="1200" dirty="0">
                <a:solidFill>
                  <a:srgbClr val="4A14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Fiction dominates with 9 borrows (50% of total). History has lowest demand — consider promotional displays or fewer copies.</a:t>
            </a:r>
            <a:endParaRPr lang="en-US" sz="1200" dirty="0"/>
          </a:p>
        </p:txBody>
      </p:sp>
      <p:sp>
        <p:nvSpPr>
          <p:cNvPr id="8" name="Shape 3"/>
          <p:cNvSpPr/>
          <p:nvPr/>
        </p:nvSpPr>
        <p:spPr>
          <a:xfrm>
            <a:off x="4572000" y="3429000"/>
            <a:ext cx="4206240" cy="1143000"/>
          </a:xfrm>
          <a:prstGeom prst="roundRect">
            <a:avLst>
              <a:gd name="adj" fmla="val 6400"/>
            </a:avLst>
          </a:prstGeom>
          <a:solidFill>
            <a:srgbClr val="E3F2FD"/>
          </a:solidFill>
          <a:ln/>
        </p:spPr>
      </p:sp>
      <p:sp>
        <p:nvSpPr>
          <p:cNvPr id="9" name="Text 4"/>
          <p:cNvSpPr/>
          <p:nvPr/>
        </p:nvSpPr>
        <p:spPr>
          <a:xfrm>
            <a:off x="4709160" y="3520440"/>
            <a:ext cx="3931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Insight: </a:t>
            </a:r>
            <a:r>
              <a:rPr lang="en-US" sz="1200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Borrowings rose from 3 (Jan) to 6 (Mar), then settled at 5 in April. Peak activity in March suggests exam/project season demand.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8503920" y="48006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8888"/>
                </a:solidFill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k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109728"/>
            <a:ext cx="1463040" cy="4846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18288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365760" y="731520"/>
            <a:ext cx="8412480" cy="804672"/>
          </a:xfrm>
          <a:prstGeom prst="roundRect">
            <a:avLst>
              <a:gd name="adj" fmla="val 9091"/>
            </a:avLst>
          </a:prstGeom>
          <a:solidFill>
            <a:srgbClr val="E3F2FD"/>
          </a:solidFill>
          <a:ln/>
        </p:spPr>
      </p:sp>
      <p:sp>
        <p:nvSpPr>
          <p:cNvPr id="5" name="Shape 2"/>
          <p:cNvSpPr/>
          <p:nvPr/>
        </p:nvSpPr>
        <p:spPr>
          <a:xfrm>
            <a:off x="502920" y="960120"/>
            <a:ext cx="109728" cy="347472"/>
          </a:xfrm>
          <a:prstGeom prst="roundRect">
            <a:avLst>
              <a:gd name="adj" fmla="val 25000"/>
            </a:avLst>
          </a:prstGeom>
          <a:solidFill>
            <a:srgbClr val="1E88E5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80467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Successfully Built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" y="1097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modular, reusable PySpark ETL pipeline was implemented for extraction, cleaning, transformation, and loading of library data.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65760" y="1645920"/>
            <a:ext cx="8412480" cy="804672"/>
          </a:xfrm>
          <a:prstGeom prst="roundRect">
            <a:avLst>
              <a:gd name="adj" fmla="val 9091"/>
            </a:avLst>
          </a:prstGeom>
          <a:solidFill>
            <a:srgbClr val="F5F5F5"/>
          </a:solidFill>
          <a:ln/>
        </p:spPr>
      </p:sp>
      <p:sp>
        <p:nvSpPr>
          <p:cNvPr id="9" name="Shape 6"/>
          <p:cNvSpPr/>
          <p:nvPr/>
        </p:nvSpPr>
        <p:spPr>
          <a:xfrm>
            <a:off x="502920" y="1874520"/>
            <a:ext cx="109728" cy="347472"/>
          </a:xfrm>
          <a:prstGeom prst="roundRect">
            <a:avLst>
              <a:gd name="adj" fmla="val 25000"/>
            </a:avLst>
          </a:prstGeom>
          <a:solidFill>
            <a:srgbClr val="1E88E5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171907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Differentiation from Recent Work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77240" y="20116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Unlike recent general DW (Fana 2021), dual-DB analytics (Gupta 2025) or cloud-heavy Glue pipelines (Sharath 2026), LibraPulse is library-specific, modular and lightweight.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65760" y="2560320"/>
            <a:ext cx="8412480" cy="804672"/>
          </a:xfrm>
          <a:prstGeom prst="roundRect">
            <a:avLst>
              <a:gd name="adj" fmla="val 9091"/>
            </a:avLst>
          </a:prstGeom>
          <a:solidFill>
            <a:srgbClr val="E3F2FD"/>
          </a:solidFill>
          <a:ln/>
        </p:spPr>
      </p:sp>
      <p:sp>
        <p:nvSpPr>
          <p:cNvPr id="13" name="Shape 10"/>
          <p:cNvSpPr/>
          <p:nvPr/>
        </p:nvSpPr>
        <p:spPr>
          <a:xfrm>
            <a:off x="502920" y="2788920"/>
            <a:ext cx="109728" cy="347472"/>
          </a:xfrm>
          <a:prstGeom prst="roundRect">
            <a:avLst>
              <a:gd name="adj" fmla="val 25000"/>
            </a:avLst>
          </a:prstGeom>
          <a:solidFill>
            <a:srgbClr val="1E88E5"/>
          </a:solidFill>
          <a:ln/>
        </p:spPr>
      </p:sp>
      <p:sp>
        <p:nvSpPr>
          <p:cNvPr id="14" name="Text 11"/>
          <p:cNvSpPr/>
          <p:nvPr/>
        </p:nvSpPr>
        <p:spPr>
          <a:xfrm>
            <a:off x="777240" y="263347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Actionable Insights Generated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77240" y="29260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Identified top books (The Hobbit, Atomic Habits), dominant category (Fiction), active vs inactive members, and monthly borrowing trends.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65760" y="3474720"/>
            <a:ext cx="8412480" cy="804672"/>
          </a:xfrm>
          <a:prstGeom prst="roundRect">
            <a:avLst>
              <a:gd name="adj" fmla="val 9091"/>
            </a:avLst>
          </a:prstGeom>
          <a:solidFill>
            <a:srgbClr val="F5F5F5"/>
          </a:solidFill>
          <a:ln/>
        </p:spPr>
      </p:sp>
      <p:sp>
        <p:nvSpPr>
          <p:cNvPr id="17" name="Shape 14"/>
          <p:cNvSpPr/>
          <p:nvPr/>
        </p:nvSpPr>
        <p:spPr>
          <a:xfrm>
            <a:off x="502920" y="3703320"/>
            <a:ext cx="109728" cy="347472"/>
          </a:xfrm>
          <a:prstGeom prst="roundRect">
            <a:avLst>
              <a:gd name="adj" fmla="val 25000"/>
            </a:avLst>
          </a:prstGeom>
          <a:solidFill>
            <a:srgbClr val="1E88E5"/>
          </a:solidFill>
          <a:ln/>
        </p:spPr>
      </p:sp>
      <p:sp>
        <p:nvSpPr>
          <p:cNvPr id="18" name="Text 15"/>
          <p:cNvSpPr/>
          <p:nvPr/>
        </p:nvSpPr>
        <p:spPr>
          <a:xfrm>
            <a:off x="777240" y="354787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Scalable &amp; Decision-Ready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777240" y="38404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Layered architecture supports growth; summary reports and visualizations enable informed library management decisions.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503920" y="48006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8888"/>
                </a:solidFill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k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109728"/>
            <a:ext cx="1463040" cy="4846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13716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Directions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320040" y="640080"/>
            <a:ext cx="27432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9050">
            <a:solidFill>
              <a:srgbClr val="E0E0E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77724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88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57200" y="11430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Streaming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150876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 with Spark Structured Streaming to process live borrowing events as they occur.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00400" y="640080"/>
            <a:ext cx="27432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9050">
            <a:solidFill>
              <a:srgbClr val="E0E0E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337560" y="77724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88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337560" y="11430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 Engine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337560" y="150876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collaborative-filtering recommender using borrowing history to suggest books.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080760" y="640080"/>
            <a:ext cx="27432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9050">
            <a:solidFill>
              <a:srgbClr val="E0E0E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0" y="77724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88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217920" y="11430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Deployment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217920" y="150876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on AWS (Glue + Redshift / S3) or Azure for production-scale scheduling.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20040" y="2560320"/>
            <a:ext cx="27432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9050">
            <a:solidFill>
              <a:srgbClr val="E0E0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200" y="26974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88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57200" y="30632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Dashboards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57200" y="342900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Power BI / Tableau for real-time, drill-down analytics for administrators.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200400" y="2560320"/>
            <a:ext cx="27432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9050">
            <a:solidFill>
              <a:srgbClr val="E0E0E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337560" y="26974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88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3337560" y="30632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Forecasting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3337560" y="342900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time-series models (ARIMA / Prophet) to predict future book demand.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080760" y="2560320"/>
            <a:ext cx="27432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9050">
            <a:solidFill>
              <a:srgbClr val="E0E0E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217920" y="26974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88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6217920" y="30632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Multi-Campus Integration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6217920" y="342900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to ingest and unify data from multiple library branches across campuses.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8503920" y="48006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8888"/>
                </a:solidFill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k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137160"/>
            <a:ext cx="1463040" cy="48463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371600" y="1645920"/>
            <a:ext cx="6400800" cy="1097280"/>
          </a:xfrm>
          <a:prstGeom prst="roundRect">
            <a:avLst>
              <a:gd name="adj" fmla="val 12500"/>
            </a:avLst>
          </a:prstGeom>
          <a:solidFill>
            <a:srgbClr val="1E88E5"/>
          </a:solidFill>
          <a:ln/>
        </p:spPr>
      </p:sp>
      <p:sp>
        <p:nvSpPr>
          <p:cNvPr id="4" name="Text 1"/>
          <p:cNvSpPr/>
          <p:nvPr/>
        </p:nvSpPr>
        <p:spPr>
          <a:xfrm>
            <a:off x="1371600" y="164592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LibraPulse  |  Team: Vivek • D Teja • Adhithya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503920" y="48006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8888"/>
                </a:solidFill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k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109728"/>
            <a:ext cx="1463040" cy="4846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13716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– Feature-wise Comparison with Existing Systems</a:t>
            </a:r>
            <a:endParaRPr lang="en-US" sz="1800" dirty="0"/>
          </a:p>
        </p:txBody>
      </p:sp>
      <p:pic>
        <p:nvPicPr>
          <p:cNvPr id="4" name="Image 1" descr="feature_comparison_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2000" y="650000"/>
            <a:ext cx="5740000" cy="2800000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274320" y="3520440"/>
            <a:ext cx="4114800" cy="1097280"/>
          </a:xfrm>
          <a:prstGeom prst="roundRect">
            <a:avLst>
              <a:gd name="adj" fmla="val 6667"/>
            </a:avLst>
          </a:prstGeom>
          <a:solidFill>
            <a:srgbClr val="E8F5E9"/>
          </a:solidFill>
          <a:ln/>
        </p:spPr>
      </p:sp>
      <p:sp>
        <p:nvSpPr>
          <p:cNvPr id="7" name="Text 2"/>
          <p:cNvSpPr/>
          <p:nvPr/>
        </p:nvSpPr>
        <p:spPr>
          <a:xfrm>
            <a:off x="411480" y="3611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Insight: </a:t>
            </a:r>
            <a:r>
              <a:rPr lang="en-US" sz="120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LibraPulse scores 8–9/10 across every dimension, versus 4–6/10 for existing systems — the biggest gaps are in Modularity and Portability (+5 points each).</a:t>
            </a:r>
            <a:endParaRPr lang="en-US" sz="1200" dirty="0"/>
          </a:p>
        </p:txBody>
      </p:sp>
      <p:sp>
        <p:nvSpPr>
          <p:cNvPr id="8" name="Shape 3"/>
          <p:cNvSpPr/>
          <p:nvPr/>
        </p:nvSpPr>
        <p:spPr>
          <a:xfrm>
            <a:off x="4572000" y="3520440"/>
            <a:ext cx="4206240" cy="1097280"/>
          </a:xfrm>
          <a:prstGeom prst="roundRect">
            <a:avLst>
              <a:gd name="adj" fmla="val 6667"/>
            </a:avLst>
          </a:prstGeom>
          <a:solidFill>
            <a:srgbClr val="FFF3E0"/>
          </a:solidFill>
          <a:ln/>
        </p:spPr>
      </p:sp>
      <p:sp>
        <p:nvSpPr>
          <p:cNvPr id="9" name="Text 4"/>
          <p:cNvSpPr/>
          <p:nvPr/>
        </p:nvSpPr>
        <p:spPr>
          <a:xfrm>
            <a:off x="4709160" y="361188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Insight: </a:t>
            </a:r>
            <a:r>
              <a:rPr lang="en-US" sz="1200" dirty="0">
                <a:solidFill>
                  <a:srgbClr val="BF36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shows the smallest (but still clear) edge (4→8, +4) — LibraPulse still needs a PySpark environment, but avoids the heavier cloud / dual-DB stacks existing systems require.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8503920" y="48006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8888"/>
                </a:solidFill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849</Words>
  <Application>Microsoft Office PowerPoint</Application>
  <PresentationFormat>On-screen Show (16:9)</PresentationFormat>
  <Paragraphs>117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LibraPulse : Scalable Library Pipeline with PySpark - FDE Project Review-4</dc:title>
  <dc:subject>FDE Project Review-4</dc:subject>
  <dc:creator>Team LibraPulse</dc:creator>
  <cp:lastModifiedBy>I Adhithya</cp:lastModifiedBy>
  <cp:revision>3</cp:revision>
  <dcterms:created xsi:type="dcterms:W3CDTF">2026-09-28T05:15:52Z</dcterms:created>
  <dcterms:modified xsi:type="dcterms:W3CDTF">2026-09-30T04:18:30Z</dcterms:modified>
</cp:coreProperties>
</file>