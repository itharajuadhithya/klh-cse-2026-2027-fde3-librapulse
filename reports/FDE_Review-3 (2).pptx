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904" r:id="rId2"/>
    <p:sldId id="905" r:id="rId3"/>
    <p:sldId id="908" r:id="rId4"/>
    <p:sldId id="906" r:id="rId5"/>
    <p:sldId id="90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45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039057"/>
              </p:ext>
            </p:extLst>
          </p:nvPr>
        </p:nvGraphicFramePr>
        <p:xfrm>
          <a:off x="8193271" y="4898509"/>
          <a:ext cx="3702050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Vivek - 2420030350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D Teja – 2420030737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Adhithya - 2420030571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294782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14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 Shirisha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LibraPulse</a:t>
            </a:r>
            <a:r>
              <a:rPr lang="en-IN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3600" dirty="0">
                <a:solidFill>
                  <a:schemeClr val="bg2"/>
                </a:solidFill>
              </a:rPr>
              <a:t>Scalable Library Pipeline with </a:t>
            </a:r>
            <a:r>
              <a:rPr lang="en-IN" sz="3600" dirty="0" err="1">
                <a:solidFill>
                  <a:schemeClr val="bg2"/>
                </a:solidFill>
              </a:rPr>
              <a:t>PySpark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FDE Project Review-3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457200" y="350000"/>
            <a:ext cx="9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Methodology, System Design, and Architecture</a:t>
            </a:r>
          </a:p>
        </p:txBody>
      </p:sp>
      <p:sp>
        <p:nvSpPr>
          <p:cNvPr id="7" name="Proposed Method Body"/>
          <p:cNvSpPr txBox="1"/>
          <p:nvPr/>
        </p:nvSpPr>
        <p:spPr>
          <a:xfrm>
            <a:off x="800100" y="1293969"/>
            <a:ext cx="10591800" cy="26737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l">
              <a:lnSpc>
                <a:spcPct val="10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1700" b="1" dirty="0"/>
              <a:t>Methodology: </a:t>
            </a:r>
            <a:r>
              <a:rPr lang="en-US" sz="1700" dirty="0"/>
              <a:t>Adopted an ETL (Extract-Transform-Load) approach — extract raw library data, clean and transform it using distributed processing, then load it into a centralized store for analysis.</a:t>
            </a:r>
          </a:p>
          <a:p>
            <a:pPr marL="285750" indent="-285750" algn="l">
              <a:lnSpc>
                <a:spcPct val="10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1700" b="1" dirty="0"/>
              <a:t>System Design: </a:t>
            </a:r>
            <a:r>
              <a:rPr lang="en-US" sz="1700" dirty="0"/>
              <a:t>Organized the system into four layers — Data Source, Processing, Storage, and Reporting — so each layer can scale or be modified independently.</a:t>
            </a:r>
          </a:p>
          <a:p>
            <a:pPr marL="285750" indent="-285750" algn="l">
              <a:lnSpc>
                <a:spcPct val="10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1700" b="1" dirty="0"/>
              <a:t>Modularity: </a:t>
            </a:r>
            <a:r>
              <a:rPr lang="en-US" sz="1700" dirty="0"/>
              <a:t>Each stage — extraction, cleaning, transformation, and loading — is implemented as an independent, reusable PySpark module.</a:t>
            </a:r>
          </a:p>
          <a:p>
            <a:pPr marL="285750" indent="-285750" algn="l">
              <a:lnSpc>
                <a:spcPct val="10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1700" b="1" dirty="0"/>
              <a:t>Scalability: </a:t>
            </a:r>
            <a:r>
              <a:rPr lang="en-US" sz="1700" dirty="0"/>
              <a:t>Built on Spark's distributed DataFrame API so the same pipeline can handle growing volumes of library data without redesign.</a:t>
            </a:r>
          </a:p>
        </p:txBody>
      </p:sp>
      <p:sp>
        <p:nvSpPr>
          <p:cNvPr id="101" name="Box 101"/>
          <p:cNvSpPr/>
          <p:nvPr/>
        </p:nvSpPr>
        <p:spPr>
          <a:xfrm>
            <a:off x="671342" y="4377450"/>
            <a:ext cx="2950000" cy="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</a:rPr>
              <a:t>Library Systems</a:t>
            </a:r>
          </a:p>
          <a:p>
            <a:pPr algn="ctr"/>
            <a:r>
              <a:rPr lang="en-US" sz="1100" dirty="0">
                <a:solidFill>
                  <a:srgbClr val="000000"/>
                </a:solidFill>
              </a:rPr>
              <a:t>(Books, Members,</a:t>
            </a:r>
          </a:p>
          <a:p>
            <a:pPr algn="ctr"/>
            <a:r>
              <a:rPr lang="en-US" sz="1100" dirty="0">
                <a:solidFill>
                  <a:srgbClr val="000000"/>
                </a:solidFill>
              </a:rPr>
              <a:t>Borrowing Records)</a:t>
            </a:r>
          </a:p>
        </p:txBody>
      </p:sp>
      <p:sp>
        <p:nvSpPr>
          <p:cNvPr id="102" name="Box 102"/>
          <p:cNvSpPr/>
          <p:nvPr/>
        </p:nvSpPr>
        <p:spPr>
          <a:xfrm>
            <a:off x="4828658" y="4377450"/>
            <a:ext cx="2950000" cy="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</a:rPr>
              <a:t>Extraction</a:t>
            </a:r>
          </a:p>
          <a:p>
            <a:pPr algn="ctr"/>
            <a:r>
              <a:rPr lang="en-US" sz="1100" dirty="0">
                <a:solidFill>
                  <a:srgbClr val="000000"/>
                </a:solidFill>
              </a:rPr>
              <a:t>Module</a:t>
            </a:r>
          </a:p>
        </p:txBody>
      </p:sp>
      <p:sp>
        <p:nvSpPr>
          <p:cNvPr id="103" name="Box 103"/>
          <p:cNvSpPr/>
          <p:nvPr/>
        </p:nvSpPr>
        <p:spPr>
          <a:xfrm>
            <a:off x="8774380" y="4377449"/>
            <a:ext cx="2950000" cy="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</a:rPr>
              <a:t>PySpark</a:t>
            </a:r>
          </a:p>
          <a:p>
            <a:pPr algn="ctr"/>
            <a:r>
              <a:rPr lang="en-US" sz="1100" dirty="0">
                <a:solidFill>
                  <a:srgbClr val="000000"/>
                </a:solidFill>
              </a:rPr>
              <a:t>Processing Engine</a:t>
            </a:r>
          </a:p>
        </p:txBody>
      </p:sp>
      <p:sp>
        <p:nvSpPr>
          <p:cNvPr id="104" name="Box 104"/>
          <p:cNvSpPr/>
          <p:nvPr/>
        </p:nvSpPr>
        <p:spPr>
          <a:xfrm>
            <a:off x="8750000" y="5537133"/>
            <a:ext cx="2950000" cy="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</a:rPr>
              <a:t>Centralized</a:t>
            </a:r>
          </a:p>
          <a:p>
            <a:pPr algn="ctr"/>
            <a:r>
              <a:rPr lang="en-US" sz="1100" dirty="0">
                <a:solidFill>
                  <a:srgbClr val="000000"/>
                </a:solidFill>
              </a:rPr>
              <a:t>Data Store</a:t>
            </a:r>
          </a:p>
        </p:txBody>
      </p:sp>
      <p:sp>
        <p:nvSpPr>
          <p:cNvPr id="105" name="Box 105"/>
          <p:cNvSpPr/>
          <p:nvPr/>
        </p:nvSpPr>
        <p:spPr>
          <a:xfrm>
            <a:off x="4828658" y="5537133"/>
            <a:ext cx="2950000" cy="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</a:rPr>
              <a:t>Reports &amp;</a:t>
            </a:r>
          </a:p>
          <a:p>
            <a:pPr algn="ctr"/>
            <a:r>
              <a:rPr lang="en-US" sz="1100" dirty="0">
                <a:solidFill>
                  <a:srgbClr val="000000"/>
                </a:solidFill>
              </a:rPr>
              <a:t>Dashboards</a:t>
            </a:r>
          </a:p>
        </p:txBody>
      </p:sp>
      <p:cxnSp>
        <p:nvCxnSpPr>
          <p:cNvPr id="106" name="Arrow 106"/>
          <p:cNvCxnSpPr/>
          <p:nvPr/>
        </p:nvCxnSpPr>
        <p:spPr>
          <a:xfrm>
            <a:off x="3700000" y="4781467"/>
            <a:ext cx="1050000" cy="1"/>
          </a:xfrm>
          <a:prstGeom prst="straightConnector1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Arrow 107"/>
          <p:cNvCxnSpPr/>
          <p:nvPr/>
        </p:nvCxnSpPr>
        <p:spPr>
          <a:xfrm>
            <a:off x="7700000" y="4752449"/>
            <a:ext cx="1050000" cy="1"/>
          </a:xfrm>
          <a:prstGeom prst="straightConnector1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Arrow 108"/>
          <p:cNvCxnSpPr/>
          <p:nvPr/>
        </p:nvCxnSpPr>
        <p:spPr>
          <a:xfrm>
            <a:off x="10229167" y="5157291"/>
            <a:ext cx="1" cy="350000"/>
          </a:xfrm>
          <a:prstGeom prst="straightConnector1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Arrow 109"/>
          <p:cNvCxnSpPr/>
          <p:nvPr/>
        </p:nvCxnSpPr>
        <p:spPr>
          <a:xfrm flipH="1">
            <a:off x="7724380" y="5912131"/>
            <a:ext cx="1050000" cy="1"/>
          </a:xfrm>
          <a:prstGeom prst="straightConnector1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457200" y="350000"/>
            <a:ext cx="9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System Architecture – Layered View</a:t>
            </a:r>
          </a:p>
        </p:txBody>
      </p:sp>
      <p:sp>
        <p:nvSpPr>
          <p:cNvPr id="201" name="Layer 201"/>
          <p:cNvSpPr/>
          <p:nvPr/>
        </p:nvSpPr>
        <p:spPr>
          <a:xfrm>
            <a:off x="1300000" y="1650000"/>
            <a:ext cx="9600000" cy="9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82880" tIns="45720" rIns="182880" bIns="4572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000000"/>
                </a:solidFill>
              </a:rPr>
              <a:t>1. Data Source Layer</a:t>
            </a:r>
          </a:p>
          <a:p>
            <a:pPr algn="l"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</a:rPr>
              <a:t>Library Book Records  •  Member Records  •  Borrowing Records (CSV / DB extracts)</a:t>
            </a:r>
          </a:p>
        </p:txBody>
      </p:sp>
      <p:sp>
        <p:nvSpPr>
          <p:cNvPr id="202" name="Layer 202"/>
          <p:cNvSpPr/>
          <p:nvPr/>
        </p:nvSpPr>
        <p:spPr>
          <a:xfrm>
            <a:off x="1300000" y="2860000"/>
            <a:ext cx="9600000" cy="9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82880" tIns="45720" rIns="182880" bIns="4572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000000"/>
                </a:solidFill>
              </a:rPr>
              <a:t>2. Processing Layer (PySpark)</a:t>
            </a:r>
          </a:p>
          <a:p>
            <a:pPr algn="l"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</a:rPr>
              <a:t>Extraction  •  Cleaning &amp; Transformation  •  Aggregation Jobs</a:t>
            </a:r>
          </a:p>
        </p:txBody>
      </p:sp>
      <p:sp>
        <p:nvSpPr>
          <p:cNvPr id="203" name="Layer 203"/>
          <p:cNvSpPr/>
          <p:nvPr/>
        </p:nvSpPr>
        <p:spPr>
          <a:xfrm>
            <a:off x="1300000" y="4070000"/>
            <a:ext cx="9600000" cy="9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82880" tIns="45720" rIns="182880" bIns="4572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000000"/>
                </a:solidFill>
              </a:rPr>
              <a:t>3. Storage Layer</a:t>
            </a:r>
          </a:p>
          <a:p>
            <a:pPr algn="l"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</a:rPr>
              <a:t>Centralized Data Store (Parquet / CSV / Database)</a:t>
            </a:r>
          </a:p>
        </p:txBody>
      </p:sp>
      <p:sp>
        <p:nvSpPr>
          <p:cNvPr id="204" name="Layer 204"/>
          <p:cNvSpPr/>
          <p:nvPr/>
        </p:nvSpPr>
        <p:spPr>
          <a:xfrm>
            <a:off x="1300000" y="5280000"/>
            <a:ext cx="9600000" cy="9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82880" tIns="45720" rIns="182880" bIns="4572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000000"/>
                </a:solidFill>
              </a:rPr>
              <a:t>4. Reporting Layer</a:t>
            </a:r>
          </a:p>
          <a:p>
            <a:pPr algn="l"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</a:rPr>
              <a:t>Summary Reports  •  Dashboards  •  Visualizations</a:t>
            </a:r>
          </a:p>
        </p:txBody>
      </p:sp>
      <p:cxnSp>
        <p:nvCxnSpPr>
          <p:cNvPr id="205" name="Arrow 205"/>
          <p:cNvCxnSpPr/>
          <p:nvPr/>
        </p:nvCxnSpPr>
        <p:spPr>
          <a:xfrm>
            <a:off x="6100000" y="2600000"/>
            <a:ext cx="1" cy="260000"/>
          </a:xfrm>
          <a:prstGeom prst="straightConnector1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Arrow 206"/>
          <p:cNvCxnSpPr/>
          <p:nvPr/>
        </p:nvCxnSpPr>
        <p:spPr>
          <a:xfrm>
            <a:off x="6100000" y="3810000"/>
            <a:ext cx="1" cy="260000"/>
          </a:xfrm>
          <a:prstGeom prst="straightConnector1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Arrow 207"/>
          <p:cNvCxnSpPr/>
          <p:nvPr/>
        </p:nvCxnSpPr>
        <p:spPr>
          <a:xfrm>
            <a:off x="6100000" y="5020000"/>
            <a:ext cx="1" cy="260000"/>
          </a:xfrm>
          <a:prstGeom prst="straightConnector1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457200" y="350000"/>
            <a:ext cx="9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Use of Modern Tools and Technologies</a:t>
            </a:r>
          </a:p>
        </p:txBody>
      </p:sp>
      <p:sp>
        <p:nvSpPr>
          <p:cNvPr id="7" name="Proposed Method Body"/>
          <p:cNvSpPr txBox="1"/>
          <p:nvPr/>
        </p:nvSpPr>
        <p:spPr>
          <a:xfrm>
            <a:off x="800100" y="1700000"/>
            <a:ext cx="105918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Apache PySpark: </a:t>
            </a:r>
            <a:r>
              <a:rPr lang="en-US" sz="1800" dirty="0"/>
              <a:t>Core engine for distributed data processing — cleaning, transformation, and aggregation of large library datasets.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Python: </a:t>
            </a:r>
            <a:r>
              <a:rPr lang="en-US" sz="1800" dirty="0"/>
              <a:t>Used to script pipeline logic, utility functions, and orchestration between pipeline stages.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Spark DataFrame API &amp; Pandas: </a:t>
            </a:r>
            <a:r>
              <a:rPr lang="en-US" sz="1800" dirty="0"/>
              <a:t>Used for structured data handling, filtering, and analysis at different pipeline stages.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Parquet / CSV: </a:t>
            </a:r>
            <a:r>
              <a:rPr lang="en-US" sz="1800" dirty="0"/>
              <a:t>Efficient columnar and flat-file storage formats for storing cleaned and transformed data.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Jupyter Notebook / Google Colab: </a:t>
            </a:r>
            <a:r>
              <a:rPr lang="en-US" sz="1800" dirty="0"/>
              <a:t>Used for iterative development, debugging, and testing of PySpark transformations.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Git &amp; GitHub: </a:t>
            </a:r>
            <a:r>
              <a:rPr lang="en-US" sz="1800" dirty="0"/>
              <a:t>Used for version control and collaborative development, with individual commits per team member.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Matplotlib / Power BI: </a:t>
            </a:r>
            <a:r>
              <a:rPr lang="en-US" sz="1800" dirty="0"/>
              <a:t>Used to visualize borrowing trends, popular books, and member activity for reporting.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929148" y="346643"/>
            <a:ext cx="9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Implementation, Coding Quality, and Functionality</a:t>
            </a:r>
          </a:p>
        </p:txBody>
      </p:sp>
      <p:sp>
        <p:nvSpPr>
          <p:cNvPr id="7" name="Proposed Method Body"/>
          <p:cNvSpPr txBox="1"/>
          <p:nvPr/>
        </p:nvSpPr>
        <p:spPr>
          <a:xfrm>
            <a:off x="800100" y="1700000"/>
            <a:ext cx="105918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Implementation: </a:t>
            </a:r>
            <a:r>
              <a:rPr lang="en-US" sz="1800" dirty="0"/>
              <a:t>Built modular PySpark scripts for extraction, cleaning, transformation, and loading, organized under the /src folder.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Coding Quality: </a:t>
            </a:r>
            <a:r>
              <a:rPr lang="en-US" sz="1800" dirty="0"/>
              <a:t>Followed consistent naming conventions, added comments and docstrings, and separated logic into small, reusable functions for readability and maintainability.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Functionality Achieved: </a:t>
            </a:r>
            <a:r>
              <a:rPr lang="en-US" sz="1800" dirty="0"/>
              <a:t>Cleaned and validated library datasets; identified the most borrowed/popular books; detected active vs. inactive members; generated borrowing statistics by category and time period.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Reporting: </a:t>
            </a:r>
            <a:r>
              <a:rPr lang="en-US" sz="1800" dirty="0"/>
              <a:t>Produced summary reports and visual outputs that support library management decision-making.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Testing &amp; Validation: </a:t>
            </a:r>
            <a:r>
              <a:rPr lang="en-US" sz="1800" dirty="0"/>
              <a:t>Verified pipeline outputs against sample/manual checks at each stage to confirm transformation accuracy.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507</Words>
  <Application>Microsoft Office PowerPoint</Application>
  <PresentationFormat>Widescreen</PresentationFormat>
  <Paragraphs>53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I Adhithya</cp:lastModifiedBy>
  <cp:revision>37</cp:revision>
  <dcterms:created xsi:type="dcterms:W3CDTF">2026-08-08T06:33:56Z</dcterms:created>
  <dcterms:modified xsi:type="dcterms:W3CDTF">2026-09-12T07:46:36Z</dcterms:modified>
</cp:coreProperties>
</file>