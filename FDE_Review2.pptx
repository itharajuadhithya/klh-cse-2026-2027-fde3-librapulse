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903" r:id="rId3"/>
    <p:sldId id="904" r:id="rId4"/>
    <p:sldId id="902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siresearch.org/seke/seke18paper/seke18paper_152.pdf" TargetMode="External"/><Relationship Id="rId13" Type="http://schemas.openxmlformats.org/officeDocument/2006/relationships/image" Target="../media/image1.png"/><Relationship Id="rId3" Type="http://schemas.openxmlformats.org/officeDocument/2006/relationships/hyperlink" Target="https://wjarr.com/sites/default/files/WJARR-2019-0033.pdf" TargetMode="External"/><Relationship Id="rId7" Type="http://schemas.openxmlformats.org/officeDocument/2006/relationships/hyperlink" Target="https://ital.corejournals.org/index.php/ital/article/download/10599/9843" TargetMode="External"/><Relationship Id="rId12" Type="http://schemas.openxmlformats.org/officeDocument/2006/relationships/hyperlink" Target="https://ijair.id/index.php/ijair/article/download/215/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tal.corejournals.org/index.php/ital/article/download/1919/pdf/3753" TargetMode="External"/><Relationship Id="rId11" Type="http://schemas.openxmlformats.org/officeDocument/2006/relationships/hyperlink" Target="https://wjaets.com/sites/default/files/fulltext_pdf/WJAETS-2026-0034.pdf" TargetMode="External"/><Relationship Id="rId5" Type="http://schemas.openxmlformats.org/officeDocument/2006/relationships/hyperlink" Target="https://pesjournal.net/journal/v7-n3/32.pdf" TargetMode="External"/><Relationship Id="rId10" Type="http://schemas.openxmlformats.org/officeDocument/2006/relationships/hyperlink" Target="http://www.sarcouncil.com/download-article/SJECS-283-2025-1308-1317.pdf" TargetMode="External"/><Relationship Id="rId4" Type="http://schemas.openxmlformats.org/officeDocument/2006/relationships/hyperlink" Target="https://www.wseas.us/e-library/transactions/computers/2009/29-714.pdf" TargetMode="External"/><Relationship Id="rId9" Type="http://schemas.openxmlformats.org/officeDocument/2006/relationships/hyperlink" Target="https://doi.org/10.1109/ACCESS.2020.3005268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039057"/>
              </p:ext>
            </p:extLst>
          </p:nvPr>
        </p:nvGraphicFramePr>
        <p:xfrm>
          <a:off x="8193271" y="4898509"/>
          <a:ext cx="3702050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Vivek - 2420030350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D Teja – 2420030737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Adhithya - 2420030571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576023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shirisha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LibraPulse</a:t>
            </a:r>
            <a:r>
              <a:rPr lang="en-IN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3600" dirty="0">
                <a:solidFill>
                  <a:schemeClr val="bg2"/>
                </a:solidFill>
              </a:rPr>
              <a:t>Scalable Library Pipeline with </a:t>
            </a:r>
            <a:r>
              <a:rPr lang="en-IN" sz="3600" dirty="0" err="1">
                <a:solidFill>
                  <a:schemeClr val="bg2"/>
                </a:solidFill>
              </a:rPr>
              <a:t>PySpark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FDE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2664542" y="348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</a:t>
            </a:r>
          </a:p>
        </p:txBody>
      </p:sp>
      <p:sp>
        <p:nvSpPr>
          <p:cNvPr id="7" name="Objective Body"/>
          <p:cNvSpPr txBox="1"/>
          <p:nvPr/>
        </p:nvSpPr>
        <p:spPr>
          <a:xfrm>
            <a:off x="628890" y="681165"/>
            <a:ext cx="10591800" cy="52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</a:pPr>
            <a:endParaRPr lang="en-IN" sz="2000" dirty="0"/>
          </a:p>
          <a:p>
            <a:pPr>
              <a:spcAft>
                <a:spcPts val="1400"/>
              </a:spcAft>
            </a:pPr>
            <a:r>
              <a:rPr lang="en-IN" sz="2500" dirty="0"/>
              <a:t>1. To build a scalable library data-processing pipeline using </a:t>
            </a:r>
            <a:r>
              <a:rPr lang="en-IN" sz="2500" b="1" dirty="0" err="1"/>
              <a:t>PySpark</a:t>
            </a:r>
            <a:r>
              <a:rPr lang="en-IN" sz="2500" dirty="0"/>
              <a:t>.</a:t>
            </a:r>
            <a:br>
              <a:rPr lang="en-IN" sz="2500" dirty="0"/>
            </a:br>
            <a:r>
              <a:rPr lang="en-IN" sz="2500" dirty="0"/>
              <a:t>2. To efficiently process large volumes of book, member, and borrowing data.</a:t>
            </a:r>
            <a:br>
              <a:rPr lang="en-IN" sz="2500" dirty="0"/>
            </a:br>
            <a:r>
              <a:rPr lang="en-IN" sz="2500" dirty="0"/>
              <a:t>3. To clean, transform, and </a:t>
            </a:r>
            <a:r>
              <a:rPr lang="en-IN" sz="2500" dirty="0" err="1"/>
              <a:t>analyze</a:t>
            </a:r>
            <a:r>
              <a:rPr lang="en-IN" sz="2500" dirty="0"/>
              <a:t> library data using distributed processing.</a:t>
            </a:r>
            <a:br>
              <a:rPr lang="en-IN" sz="2500" dirty="0"/>
            </a:br>
            <a:r>
              <a:rPr lang="en-IN" sz="2500" dirty="0"/>
              <a:t>4. To identify borrowing patterns, popular books, and active members.</a:t>
            </a:r>
            <a:br>
              <a:rPr lang="en-IN" sz="2500" dirty="0"/>
            </a:br>
            <a:r>
              <a:rPr lang="en-IN" sz="2500" dirty="0"/>
              <a:t>5. To generate useful insights for better library management.</a:t>
            </a:r>
            <a:br>
              <a:rPr lang="en-IN" sz="2500" dirty="0"/>
            </a:br>
            <a:r>
              <a:rPr lang="en-IN" sz="2500" b="1" dirty="0"/>
              <a:t>Expected Output:</a:t>
            </a:r>
            <a:br>
              <a:rPr lang="en-IN" sz="2500" dirty="0"/>
            </a:br>
            <a:r>
              <a:rPr lang="en-IN" sz="2500" dirty="0"/>
              <a:t>- Cleaned and processed library datasets.</a:t>
            </a:r>
            <a:br>
              <a:rPr lang="en-IN" sz="2500" dirty="0"/>
            </a:br>
            <a:r>
              <a:rPr lang="en-IN" sz="2500" dirty="0"/>
              <a:t>- List of </a:t>
            </a:r>
            <a:r>
              <a:rPr lang="en-IN" sz="2500" b="1" dirty="0"/>
              <a:t>most borrowed/popular books</a:t>
            </a:r>
            <a:r>
              <a:rPr lang="en-IN" sz="2500" dirty="0"/>
              <a:t>.</a:t>
            </a:r>
            <a:br>
              <a:rPr lang="en-IN" sz="2500" dirty="0"/>
            </a:br>
            <a:r>
              <a:rPr lang="en-IN" sz="2500" dirty="0"/>
              <a:t>- Identification of </a:t>
            </a:r>
            <a:r>
              <a:rPr lang="en-IN" sz="2500" b="1" dirty="0"/>
              <a:t>most active members</a:t>
            </a:r>
            <a:r>
              <a:rPr lang="en-IN" sz="2500" dirty="0"/>
              <a:t>.</a:t>
            </a:r>
            <a:br>
              <a:rPr lang="en-IN" sz="2500" dirty="0"/>
            </a:br>
            <a:r>
              <a:rPr lang="en-IN" sz="2500" dirty="0"/>
              <a:t>- Book-category and borrowing statistics.</a:t>
            </a:r>
            <a:br>
              <a:rPr lang="en-IN" sz="2500" dirty="0"/>
            </a:br>
            <a:r>
              <a:rPr lang="en-IN" sz="2500" dirty="0"/>
              <a:t>- Borrowing trends based on dates/time periods.</a:t>
            </a:r>
            <a:br>
              <a:rPr lang="en-IN" sz="2500" dirty="0"/>
            </a:br>
            <a:r>
              <a:rPr lang="en-IN" sz="2500" dirty="0"/>
              <a:t>- Summary reports that can support library decision-making.</a:t>
            </a:r>
            <a:br>
              <a:rPr lang="en-IN" sz="2500" dirty="0"/>
            </a:br>
            <a:endParaRPr lang="en-US"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55A3-0548-6626-ECFE-A9DD3279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/>
              <a:t>Use Cases: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1162F-E701-E25D-1BF4-E589F9470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1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en-IN" dirty="0"/>
            </a:br>
            <a:r>
              <a:rPr lang="en-IN" dirty="0"/>
              <a:t>- </a:t>
            </a:r>
            <a:r>
              <a:rPr lang="en-IN" b="1" dirty="0"/>
              <a:t>Library Management:</a:t>
            </a:r>
            <a:r>
              <a:rPr lang="en-IN" dirty="0"/>
              <a:t> Track books, members, and borrowing activity.</a:t>
            </a:r>
            <a:br>
              <a:rPr lang="en-IN" dirty="0"/>
            </a:br>
            <a:r>
              <a:rPr lang="en-IN" dirty="0"/>
              <a:t>- </a:t>
            </a:r>
            <a:r>
              <a:rPr lang="en-IN" b="1" dirty="0"/>
              <a:t>Demand Prediction:</a:t>
            </a:r>
            <a:r>
              <a:rPr lang="en-IN" dirty="0"/>
              <a:t> Identify books that are frequently borrowed.</a:t>
            </a:r>
            <a:br>
              <a:rPr lang="en-IN" dirty="0"/>
            </a:br>
            <a:r>
              <a:rPr lang="en-IN" dirty="0"/>
              <a:t>- </a:t>
            </a:r>
            <a:r>
              <a:rPr lang="en-IN" b="1" dirty="0"/>
              <a:t>Inventory Management:</a:t>
            </a:r>
            <a:r>
              <a:rPr lang="en-IN" dirty="0"/>
              <a:t> Decide which books need more copies.</a:t>
            </a:r>
            <a:br>
              <a:rPr lang="en-IN" dirty="0"/>
            </a:br>
            <a:r>
              <a:rPr lang="en-IN" dirty="0"/>
              <a:t>- </a:t>
            </a:r>
            <a:r>
              <a:rPr lang="en-IN" b="1" dirty="0"/>
              <a:t>Member Analysis:</a:t>
            </a:r>
            <a:r>
              <a:rPr lang="en-IN" dirty="0"/>
              <a:t> Find active and inactive library members.</a:t>
            </a:r>
            <a:br>
              <a:rPr lang="en-IN" dirty="0"/>
            </a:br>
            <a:r>
              <a:rPr lang="en-IN" dirty="0"/>
              <a:t>- </a:t>
            </a:r>
            <a:r>
              <a:rPr lang="en-IN" b="1" dirty="0"/>
              <a:t>Recommendation Systems:</a:t>
            </a:r>
            <a:r>
              <a:rPr lang="en-IN" dirty="0"/>
              <a:t> Recommend books based on borrowing history.</a:t>
            </a:r>
            <a:br>
              <a:rPr lang="en-IN" dirty="0"/>
            </a:br>
            <a:r>
              <a:rPr lang="en-IN" dirty="0"/>
              <a:t>- </a:t>
            </a:r>
            <a:r>
              <a:rPr lang="en-IN" b="1" dirty="0"/>
              <a:t>Scalable Data Processing:</a:t>
            </a:r>
            <a:r>
              <a:rPr lang="en-IN" dirty="0"/>
              <a:t> Process millions of library records efficiently using </a:t>
            </a:r>
            <a:r>
              <a:rPr lang="en-IN" dirty="0" err="1"/>
              <a:t>PySpark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</a:t>
            </a:r>
            <a:r>
              <a:rPr lang="en-IN" b="1" dirty="0"/>
              <a:t>Reporting &amp; Analytics:</a:t>
            </a:r>
            <a:r>
              <a:rPr lang="en-IN" dirty="0"/>
              <a:t> Generate statistical reports for library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167992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0679245"/>
              </p:ext>
            </p:extLst>
          </p:nvPr>
        </p:nvGraphicFramePr>
        <p:xfrm>
          <a:off x="274646" y="689466"/>
          <a:ext cx="11642705" cy="59174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Mandala, N.R.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Evolution of ETL Architecture: Traditional DW to Real-Time (2019)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100"/>
                        </a:spcBef>
                      </a:pPr>
                      <a:r>
                        <a:rPr lang="en-IN" sz="1000" b="0" i="1" u="sng" kern="1200" dirty="0">
                          <a:solidFill>
                            <a:srgbClr val="0563C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Download PDF 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Reviewed the shift from traditional batch-oriented ETL to real-time data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Real-time/streaming ETL architectures reduce latency vs. classic batch 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Real-time ETL adds architectural complexity and higher operational overhead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Mekterovic et al.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Improving the ETL Process of HEI Data Warehouse (2009)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100"/>
                        </a:spcBef>
                      </a:pPr>
                      <a:r>
                        <a:rPr lang="en-IN" sz="1000" b="0" i="1" u="sng" kern="1200" dirty="0">
                          <a:solidFill>
                            <a:srgbClr val="0563C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Download PDF 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Iterative ETL refinement over a seven-year period for a HEI data warehouse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Incremental ETL improvements raised data quality and reporting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Findings specific to one institution's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Gupta et al.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 Performance Analytics Using ETL and Neo4j (2025)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100"/>
                        </a:spcBef>
                      </a:pPr>
                      <a:r>
                        <a:rPr lang="en-IN" sz="1000" b="0" i="1" u="sng" kern="1200" dirty="0">
                          <a:solidFill>
                            <a:srgbClr val="0563C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Download PDF 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ETL pipeline feeding Neo4j graph DB alongside a relational (MySQL)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Enabled real-time monitoring and early identification of at-risk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Added complexity of maintaining two database paradigms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Morton-Owens &amp; Hanson 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Trends at a Glance: A Management Dashboard of Library Statistics (2012)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100"/>
                        </a:spcBef>
                      </a:pPr>
                      <a:r>
                        <a:rPr lang="en-IN" sz="1000" b="0" i="1" u="sng" kern="1200" dirty="0">
                          <a:solidFill>
                            <a:srgbClr val="0563C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Download PDF 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Built a MySQL data warehouse from 8 library data sources using Perl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Google Chart Tools dashboard revealed usage trends across departments and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Case study of one academic medical library; not benchmarked elsewhere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Zaric et al. 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Business Intelligence in the Service of Libraries (2019)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100"/>
                        </a:spcBef>
                      </a:pPr>
                      <a:r>
                        <a:rPr lang="en-IN" sz="1000" b="0" i="1" u="sng" kern="1200" dirty="0">
                          <a:solidFill>
                            <a:srgbClr val="0563C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Download PDF 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Built a data warehouse and OLAP model for the BISIS library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BI/OLAP tools improved reporting over the transactional library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 tied to BISIS schema; portability unproven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Nwokeji et al. 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Big Data ETL Implementation Approaches: A Systematic Literature Review (2018)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100"/>
                        </a:spcBef>
                      </a:pPr>
                      <a:r>
                        <a:rPr lang="en-IN" sz="1000" b="0" i="1" u="sng" kern="1200" dirty="0">
                          <a:solidFill>
                            <a:srgbClr val="0563C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Download PDF 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Systematic review of 97 papers on ETL approaches for big data and warehousing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Conceptual modeling (UML, BPMN, MDA) is the most common ETL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ML/AI-based ETL automation remains under-utilized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Mehmood &amp; Anees 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Real-Time Big Data Stream Processing: SLR (2020)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100"/>
                        </a:spcBef>
                      </a:pPr>
                      <a:r>
                        <a:rPr lang="en-IN" sz="1000" b="0" i="1" u="sng" kern="1200" dirty="0">
                          <a:solidFill>
                            <a:srgbClr val="0563C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Download PDF 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Reviewed real-time big-data stream processing and ETL challenges for DW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Identifies key tools addressing ETL challenges in real-time 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Focuses on streaming; less coverage of batch ETL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Hareram, S.E. 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Technical Review: Apache Spark and PySpark (2025)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100"/>
                        </a:spcBef>
                      </a:pPr>
                      <a:r>
                        <a:rPr lang="en-IN" sz="1000" b="0" i="1" u="sng" kern="1200" dirty="0">
                          <a:solidFill>
                            <a:srgbClr val="0563C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Download PDF 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Technical review comparing Spark/PySpark architecture to MapReduce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Unified batch+streaming+ML model reduces need for multiple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Review-based; no original cluster benchmarks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Sharath, M.R. [9]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Robust ETL Pipelines with PySpark and AWS Glue (2026)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100"/>
                        </a:spcBef>
                      </a:pPr>
                      <a:r>
                        <a:rPr lang="en-IN" sz="1000" b="0" i="1" u="sng" kern="1200" dirty="0">
                          <a:solidFill>
                            <a:srgbClr val="0563C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1"/>
                        </a:rPr>
                        <a:t>Download PDF 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Reviewed PySpark + AWS Glue architecture for scalable cloud ETL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Automation and declarative approaches improve high-scale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Review paper; schema drift remains an open challenge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Fana et al. [10]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ETL-Based Data Warehouse for Company Info Centre (2021)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95000"/>
                        </a:lnSpc>
                        <a:spcBef>
                          <a:spcPts val="100"/>
                        </a:spcBef>
                      </a:pPr>
                      <a:r>
                        <a:rPr lang="en-IN" sz="1000" b="0" i="1" u="sng" kern="1200" dirty="0">
                          <a:solidFill>
                            <a:srgbClr val="0563C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2"/>
                        </a:rPr>
                        <a:t>Download PDF 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Designed an ETL-based data warehouse for a company info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Centralized DW improved data-driven decision-making for the 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000" marR="0" indent="-140000" algn="just" defTabSz="914400" rtl="0" eaLnBrk="1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Case study limited to a single organization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Proposed Method</a:t>
            </a:r>
          </a:p>
        </p:txBody>
      </p:sp>
      <p:sp>
        <p:nvSpPr>
          <p:cNvPr id="7" name="Proposed Method Body"/>
          <p:cNvSpPr txBox="1"/>
          <p:nvPr/>
        </p:nvSpPr>
        <p:spPr>
          <a:xfrm>
            <a:off x="800100" y="1400000"/>
            <a:ext cx="10591800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Data Extraction: </a:t>
            </a:r>
            <a:r>
              <a:rPr lang="en-US" sz="1800" dirty="0"/>
              <a:t>Collect raw data from distributed university systems — student records, attendance, examinations, library, and course management — stored in PostgreSQL and other source systems.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Data Cleaning &amp; Transformation: </a:t>
            </a:r>
            <a:r>
              <a:rPr lang="en-US" sz="1800" dirty="0"/>
              <a:t>Use Apache Spark and Python to remove duplicates, fix inconsistencies, and standardize formats across all source datasets.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Automated ETL Pipeline: </a:t>
            </a:r>
            <a:r>
              <a:rPr lang="en-US" sz="1800" dirty="0"/>
              <a:t>Orchestrate the Extract-Transform-Load workflow with AWS Glue so new data is processed automatically on a scheduled basis, without manual intervention.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Centralized Data Storage: </a:t>
            </a:r>
            <a:r>
              <a:rPr lang="en-US" sz="1800" dirty="0"/>
              <a:t>Load the cleaned, integrated data into Amazon Redshift and PostgreSQL to create a single, reliable source of truth for the university.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Visualization Layer: </a:t>
            </a:r>
            <a:r>
              <a:rPr lang="en-US" sz="1800" dirty="0"/>
              <a:t>Connect Power BI to the central database to build interactive dashboards for student performance, attendance, and enrolment trends.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Insight &amp; Decision Support: </a:t>
            </a:r>
            <a:r>
              <a:rPr lang="en-US" sz="1800" dirty="0"/>
              <a:t>Deliver accurate, up-to-date reports to administrators and faculty, enabling faster and better data-driven decisions.</a:t>
            </a:r>
          </a:p>
          <a:p>
            <a:pPr mar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1600" i="1" dirty="0"/>
              <a:t>Flow: University Systems → Extract → Clean &amp; Transform → Central Database → Dashboards → Decision Making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971</Words>
  <Application>Microsoft Office PowerPoint</Application>
  <PresentationFormat>Widescreen</PresentationFormat>
  <Paragraphs>95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Use Cases: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I Adhithya</cp:lastModifiedBy>
  <cp:revision>37</cp:revision>
  <dcterms:created xsi:type="dcterms:W3CDTF">2026-08-08T06:33:56Z</dcterms:created>
  <dcterms:modified xsi:type="dcterms:W3CDTF">2026-08-26T06:20:11Z</dcterms:modified>
</cp:coreProperties>
</file>